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notesMasterIdLst>
    <p:notesMasterId r:id="rId6"/>
  </p:notesMasterIdLst>
  <p:sldIdLst>
    <p:sldId id="257" r:id="rId2"/>
    <p:sldId id="265" r:id="rId3"/>
    <p:sldId id="266" r:id="rId4"/>
    <p:sldId id="26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9900"/>
    <a:srgbClr val="FF0000"/>
    <a:srgbClr val="BCB800"/>
    <a:srgbClr val="9933FF"/>
    <a:srgbClr val="0000FF"/>
    <a:srgbClr val="00C000"/>
    <a:srgbClr val="D6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672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CE41BDD-DF08-4200-BECC-228AB4BCB4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243A130-B12C-4C38-BA1B-C6D5E2009E6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2F85C5F-C502-4B5A-865F-77625C9E06F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2A2B1C6-57F1-404C-9051-C72F37CBA88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CAD8D2F-A29C-4D95-9778-89AF707246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34478569-4F42-4337-BF42-BD5E6748AC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9521CC6-D766-46A9-BEC5-B7DA1E9E18B0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52961C65-E6DB-444F-AC60-74F310CAC9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E6DB52-A1E1-4758-803F-8C39180C04C7}" type="slidenum">
              <a:rPr lang="es-ES" altLang="es-AR"/>
              <a:pPr>
                <a:spcBef>
                  <a:spcPct val="0"/>
                </a:spcBef>
              </a:pPr>
              <a:t>1</a:t>
            </a:fld>
            <a:endParaRPr lang="es-ES" altLang="es-AR"/>
          </a:p>
        </p:txBody>
      </p:sp>
      <p:sp>
        <p:nvSpPr>
          <p:cNvPr id="9219" name="Rectangle 7">
            <a:extLst>
              <a:ext uri="{FF2B5EF4-FFF2-40B4-BE49-F238E27FC236}">
                <a16:creationId xmlns:a16="http://schemas.microsoft.com/office/drawing/2014/main" id="{68405D2B-F1E3-4297-9B7D-B4607378F17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BF2870EB-82E8-45C4-82E3-61D7521AFD25}" type="slidenum">
              <a:rPr lang="es-ES" altLang="es-AR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</a:t>
            </a:fld>
            <a:endParaRPr lang="es-ES" altLang="es-AR">
              <a:latin typeface="Times New Roman" panose="02020603050405020304" pitchFamily="18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33AF99BA-0B9A-42AC-9AE2-059BCC0E68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3CCBED62-0DD5-406A-AD54-FC9689AB3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311A50-9C47-401F-AA99-B4F9AE20C9A7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63195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055F51-16E7-4297-9952-4B2BA8A52C87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99922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7A3C1-6AA3-42F1-9406-3540AD5962E2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63597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879F1E-9CD9-43F4-AB58-06AD42C6DCE5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72686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2406D4-4640-4FF5-AB16-9306A60DE9E4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67866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48588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E72C10-51FD-4932-A9F5-CD5BEBA1D1A9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17892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B1BE1B-1D8B-4F37-9726-9C52C20E24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97898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pPr>
              <a:defRPr/>
            </a:pPr>
            <a:fld id="{B94A8401-67DA-4120-9BF9-FE5209D32BA4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27204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86110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71671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520927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967133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656084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507260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FD6C84-E79A-4B5C-854B-447B4D0E381A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049299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283E1-491B-4907-B6FF-BA26B03C9B7B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33578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CC081614-CAB6-4BBB-9450-461E75FD4E8D}" type="slidenum">
              <a:rPr lang="es-ES" altLang="es-AR" smtClean="0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400442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ogle.com.ar/imgres?imgurl=http://storagecontainers.net/listman/listings/images/6_1.jpg&amp;imgrefurl=http://storagecontainers.net/listman/listings/l0006.html&amp;usg=__5_55x-9IQG9pZRruo27t9EtlC74=&amp;h=450&amp;w=552&amp;sz=50&amp;hl=es&amp;start=50&amp;zoom=1&amp;um=1&amp;itbs=1&amp;tbnid=DBK9izUcb9PqVM:&amp;tbnh=108&amp;tbnw=133&amp;prev=/search?q=container&amp;start=40&amp;um=1&amp;hl=es&amp;sa=N&amp;biw=1003&amp;bih=619&amp;ndsp=20&amp;tbm=isch&amp;ei=B0k8TvmsL6Xm0QGTuNjGAw" TargetMode="External"/><Relationship Id="rId3" Type="http://schemas.openxmlformats.org/officeDocument/2006/relationships/image" Target="../media/image2.wm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foto-gratis.es/photos/0-0/2008-01-08/Img01122008100863183440.jpg" TargetMode="External"/><Relationship Id="rId5" Type="http://schemas.openxmlformats.org/officeDocument/2006/relationships/image" Target="../media/image4.jpeg"/><Relationship Id="rId10" Type="http://schemas.openxmlformats.org/officeDocument/2006/relationships/image" Target="../media/image7.png"/><Relationship Id="rId4" Type="http://schemas.openxmlformats.org/officeDocument/2006/relationships/image" Target="../media/image3.wmf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hyperlink" Target="http://txglobal.xilversite.com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txglobal.xilversite.com/contacts/media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txglobal.xilversite.com/" TargetMode="External"/><Relationship Id="rId2" Type="http://schemas.openxmlformats.org/officeDocument/2006/relationships/hyperlink" Target="http://txglobal.xilversite.com/contacts/media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90000">
              <a:schemeClr val="bg1"/>
            </a:gs>
            <a:gs pos="100000">
              <a:schemeClr val="accent2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1B3CDA-D082-4A0E-9689-E898E3DE20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28862" y="170962"/>
            <a:ext cx="7534275" cy="871538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br>
              <a:rPr lang="es-ES_tradnl" sz="3500" dirty="0"/>
            </a:br>
            <a:r>
              <a:rPr lang="es-ES_tradnl" sz="3500" dirty="0"/>
              <a:t>CONTABILIDAD NACIONAL</a:t>
            </a:r>
            <a:br>
              <a:rPr lang="es-ES_tradnl" sz="3500" dirty="0"/>
            </a:br>
            <a:endParaRPr lang="es-ES_tradnl" sz="3500" dirty="0"/>
          </a:p>
        </p:txBody>
      </p:sp>
      <p:pic>
        <p:nvPicPr>
          <p:cNvPr id="8195" name="Picture 9" descr="MC900059654[1]">
            <a:extLst>
              <a:ext uri="{FF2B5EF4-FFF2-40B4-BE49-F238E27FC236}">
                <a16:creationId xmlns:a16="http://schemas.microsoft.com/office/drawing/2014/main" id="{2DD7B18F-8EBD-4EC5-B545-7B9A3B9B0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8" y="4429125"/>
            <a:ext cx="109220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10" descr="MC900300075[1]">
            <a:extLst>
              <a:ext uri="{FF2B5EF4-FFF2-40B4-BE49-F238E27FC236}">
                <a16:creationId xmlns:a16="http://schemas.microsoft.com/office/drawing/2014/main" id="{B594ECFF-AB2D-4D54-8290-1194EFF93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26" y="3817939"/>
            <a:ext cx="836613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Line 11">
            <a:extLst>
              <a:ext uri="{FF2B5EF4-FFF2-40B4-BE49-F238E27FC236}">
                <a16:creationId xmlns:a16="http://schemas.microsoft.com/office/drawing/2014/main" id="{31CCC2A7-8491-4B21-98B6-4A1348143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0289" y="450056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8198" name="Text Box 3">
            <a:extLst>
              <a:ext uri="{FF2B5EF4-FFF2-40B4-BE49-F238E27FC236}">
                <a16:creationId xmlns:a16="http://schemas.microsoft.com/office/drawing/2014/main" id="{D0CB4F09-0537-484A-8718-6B551A05A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825" y="3960813"/>
            <a:ext cx="237013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2800">
                <a:latin typeface="Times New Roman" panose="02020603050405020304" pitchFamily="18" charset="0"/>
              </a:rPr>
              <a:t>C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1800">
                <a:latin typeface="Times New Roman" panose="02020603050405020304" pitchFamily="18" charset="0"/>
              </a:rPr>
              <a:t>(Familias o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1800">
                <a:latin typeface="Times New Roman" panose="02020603050405020304" pitchFamily="18" charset="0"/>
              </a:rPr>
              <a:t>Economías domésticas)</a:t>
            </a:r>
          </a:p>
        </p:txBody>
      </p:sp>
      <p:pic>
        <p:nvPicPr>
          <p:cNvPr id="8199" name="Picture 3">
            <a:extLst>
              <a:ext uri="{FF2B5EF4-FFF2-40B4-BE49-F238E27FC236}">
                <a16:creationId xmlns:a16="http://schemas.microsoft.com/office/drawing/2014/main" id="{378E8401-ECA4-4D36-AEC4-14935E065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051" y="3884614"/>
            <a:ext cx="1325563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Line 14">
            <a:extLst>
              <a:ext uri="{FF2B5EF4-FFF2-40B4-BE49-F238E27FC236}">
                <a16:creationId xmlns:a16="http://schemas.microsoft.com/office/drawing/2014/main" id="{B6FA0B75-FB4C-4C00-A82E-3392F08371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0264" y="4662488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8201" name="Text Box 3">
            <a:extLst>
              <a:ext uri="{FF2B5EF4-FFF2-40B4-BE49-F238E27FC236}">
                <a16:creationId xmlns:a16="http://schemas.microsoft.com/office/drawing/2014/main" id="{47E18FC8-E308-44E2-9F07-82D3ECC45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325" y="4114801"/>
            <a:ext cx="17859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2800">
                <a:latin typeface="Times New Roman" panose="02020603050405020304" pitchFamily="18" charset="0"/>
              </a:rPr>
              <a:t>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1800">
                <a:latin typeface="Times New Roman" panose="02020603050405020304" pitchFamily="18" charset="0"/>
              </a:rPr>
              <a:t>(Sector Público o Gobierno)</a:t>
            </a:r>
          </a:p>
        </p:txBody>
      </p:sp>
      <p:pic>
        <p:nvPicPr>
          <p:cNvPr id="8202" name="Picture 2" descr="Img01122008100863183440">
            <a:hlinkClick r:id="rId6" tooltip="Img01122008100863183440"/>
            <a:extLst>
              <a:ext uri="{FF2B5EF4-FFF2-40B4-BE49-F238E27FC236}">
                <a16:creationId xmlns:a16="http://schemas.microsoft.com/office/drawing/2014/main" id="{4BF13F58-3365-4C33-AE0E-6ABAF5BDF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4" y="5432426"/>
            <a:ext cx="1635125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Line 17">
            <a:extLst>
              <a:ext uri="{FF2B5EF4-FFF2-40B4-BE49-F238E27FC236}">
                <a16:creationId xmlns:a16="http://schemas.microsoft.com/office/drawing/2014/main" id="{080E3C11-B571-44B2-B9A7-A7F3371A51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9" y="619601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8204" name="Text Box 3">
            <a:extLst>
              <a:ext uri="{FF2B5EF4-FFF2-40B4-BE49-F238E27FC236}">
                <a16:creationId xmlns:a16="http://schemas.microsoft.com/office/drawing/2014/main" id="{403CED2D-28E2-4B79-B257-BB09B9DE9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151" y="5807075"/>
            <a:ext cx="1236663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2800">
                <a:latin typeface="Times New Roman" panose="02020603050405020304" pitchFamily="18" charset="0"/>
              </a:rPr>
              <a:t>I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1800">
                <a:latin typeface="Times New Roman" panose="02020603050405020304" pitchFamily="18" charset="0"/>
              </a:rPr>
              <a:t>(Empresas)</a:t>
            </a:r>
          </a:p>
        </p:txBody>
      </p:sp>
      <p:pic>
        <p:nvPicPr>
          <p:cNvPr id="8205" name="Picture 20" descr="ANd9GcSY8EoRASpbWC0ZRwEsxW9pUk7QbvnDMkABzU2L6SRrZqiPBBpaNvqaVhQ">
            <a:hlinkClick r:id="rId8"/>
            <a:extLst>
              <a:ext uri="{FF2B5EF4-FFF2-40B4-BE49-F238E27FC236}">
                <a16:creationId xmlns:a16="http://schemas.microsoft.com/office/drawing/2014/main" id="{CE7006A9-C2DE-49B9-8EF6-3C832C6FD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050" y="5214939"/>
            <a:ext cx="1504950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6" name="Line 21">
            <a:extLst>
              <a:ext uri="{FF2B5EF4-FFF2-40B4-BE49-F238E27FC236}">
                <a16:creationId xmlns:a16="http://schemas.microsoft.com/office/drawing/2014/main" id="{7A923DC4-ADC5-4C87-8A0C-5B7E373FA5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28050" y="5807075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8207" name="Text Box 3">
            <a:extLst>
              <a:ext uri="{FF2B5EF4-FFF2-40B4-BE49-F238E27FC236}">
                <a16:creationId xmlns:a16="http://schemas.microsoft.com/office/drawing/2014/main" id="{19E0CA07-5DF2-43C7-A46E-F41CF9925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326" y="5432425"/>
            <a:ext cx="18573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2800">
                <a:latin typeface="Times New Roman" panose="02020603050405020304" pitchFamily="18" charset="0"/>
              </a:rPr>
              <a:t>XN </a:t>
            </a:r>
            <a:r>
              <a:rPr lang="es-ES_tradnl" altLang="es-AR" sz="1800">
                <a:latin typeface="Times New Roman" panose="02020603050405020304" pitchFamily="18" charset="0"/>
              </a:rPr>
              <a:t>(X-M)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s-ES_tradnl" altLang="es-AR" sz="1800">
                <a:latin typeface="Times New Roman" panose="02020603050405020304" pitchFamily="18" charset="0"/>
              </a:rPr>
              <a:t>(Sector externo)</a:t>
            </a:r>
          </a:p>
        </p:txBody>
      </p:sp>
      <p:pic>
        <p:nvPicPr>
          <p:cNvPr id="8208" name="Picture 28">
            <a:extLst>
              <a:ext uri="{FF2B5EF4-FFF2-40B4-BE49-F238E27FC236}">
                <a16:creationId xmlns:a16="http://schemas.microsoft.com/office/drawing/2014/main" id="{70B08A83-FA4F-4CC1-8818-4531345E2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589" y="5576888"/>
            <a:ext cx="1025525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9" name="1 CuadroTexto">
            <a:extLst>
              <a:ext uri="{FF2B5EF4-FFF2-40B4-BE49-F238E27FC236}">
                <a16:creationId xmlns:a16="http://schemas.microsoft.com/office/drawing/2014/main" id="{33EDF7B0-F751-4FB9-83B8-D9C432DF6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526" y="868363"/>
            <a:ext cx="7000875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800"/>
              <a:t>OA    ≡  DA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800"/>
              <a:t>PBI ≡ C + I + G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800"/>
              <a:t>PBI + M ≡ C + I + G + X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800"/>
              <a:t>PBI  ≡ C + I + G + (X – M)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800"/>
              <a:t>PBI ≡ C + I + G + XN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4000"/>
              <a:t> </a:t>
            </a:r>
          </a:p>
        </p:txBody>
      </p:sp>
      <p:sp>
        <p:nvSpPr>
          <p:cNvPr id="25" name="24 Flecha derecha">
            <a:extLst>
              <a:ext uri="{FF2B5EF4-FFF2-40B4-BE49-F238E27FC236}">
                <a16:creationId xmlns:a16="http://schemas.microsoft.com/office/drawing/2014/main" id="{D2EFBB4B-6D4B-4F0D-96CD-5FD46CAE32DE}"/>
              </a:ext>
            </a:extLst>
          </p:cNvPr>
          <p:cNvSpPr/>
          <p:nvPr/>
        </p:nvSpPr>
        <p:spPr>
          <a:xfrm>
            <a:off x="7607300" y="1473200"/>
            <a:ext cx="642938" cy="46038"/>
          </a:xfrm>
          <a:prstGeom prst="rightArrow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AR" sz="1500"/>
          </a:p>
        </p:txBody>
      </p:sp>
      <p:sp>
        <p:nvSpPr>
          <p:cNvPr id="8211" name="3 CuadroTexto">
            <a:extLst>
              <a:ext uri="{FF2B5EF4-FFF2-40B4-BE49-F238E27FC236}">
                <a16:creationId xmlns:a16="http://schemas.microsoft.com/office/drawing/2014/main" id="{A8BD7519-6EA0-4C6C-B8AB-35FC32A06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7900" y="1357313"/>
            <a:ext cx="1758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500"/>
              <a:t>Economía cerrada</a:t>
            </a:r>
          </a:p>
        </p:txBody>
      </p:sp>
      <p:sp>
        <p:nvSpPr>
          <p:cNvPr id="8212" name="4 CuadroTexto">
            <a:extLst>
              <a:ext uri="{FF2B5EF4-FFF2-40B4-BE49-F238E27FC236}">
                <a16:creationId xmlns:a16="http://schemas.microsoft.com/office/drawing/2014/main" id="{4A58A3EB-C81C-463F-BC5D-5B9F131F6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463" y="1838325"/>
            <a:ext cx="1693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500"/>
              <a:t>Economía abierta</a:t>
            </a:r>
          </a:p>
        </p:txBody>
      </p:sp>
      <p:sp>
        <p:nvSpPr>
          <p:cNvPr id="28" name="27 Flecha derecha">
            <a:extLst>
              <a:ext uri="{FF2B5EF4-FFF2-40B4-BE49-F238E27FC236}">
                <a16:creationId xmlns:a16="http://schemas.microsoft.com/office/drawing/2014/main" id="{29F4135C-1B0B-42EF-AD42-5D7BEB8EE671}"/>
              </a:ext>
            </a:extLst>
          </p:cNvPr>
          <p:cNvSpPr/>
          <p:nvPr/>
        </p:nvSpPr>
        <p:spPr>
          <a:xfrm>
            <a:off x="8169276" y="1963739"/>
            <a:ext cx="428625" cy="73025"/>
          </a:xfrm>
          <a:prstGeom prst="rightArrow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AR" sz="1500"/>
          </a:p>
        </p:txBody>
      </p:sp>
      <p:sp>
        <p:nvSpPr>
          <p:cNvPr id="29" name="28 Elipse">
            <a:extLst>
              <a:ext uri="{FF2B5EF4-FFF2-40B4-BE49-F238E27FC236}">
                <a16:creationId xmlns:a16="http://schemas.microsoft.com/office/drawing/2014/main" id="{E023CA58-C421-4DE6-A721-3799CB04207B}"/>
              </a:ext>
            </a:extLst>
          </p:cNvPr>
          <p:cNvSpPr/>
          <p:nvPr/>
        </p:nvSpPr>
        <p:spPr>
          <a:xfrm>
            <a:off x="5435600" y="2525714"/>
            <a:ext cx="2503488" cy="606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AR"/>
          </a:p>
        </p:txBody>
      </p:sp>
      <p:cxnSp>
        <p:nvCxnSpPr>
          <p:cNvPr id="30" name="29 Conector recto de flecha">
            <a:extLst>
              <a:ext uri="{FF2B5EF4-FFF2-40B4-BE49-F238E27FC236}">
                <a16:creationId xmlns:a16="http://schemas.microsoft.com/office/drawing/2014/main" id="{A6643F4A-2B7F-4374-BCC9-84D18216AA72}"/>
              </a:ext>
            </a:extLst>
          </p:cNvPr>
          <p:cNvCxnSpPr/>
          <p:nvPr/>
        </p:nvCxnSpPr>
        <p:spPr>
          <a:xfrm rot="16200000" flipH="1">
            <a:off x="7204076" y="3141663"/>
            <a:ext cx="214312" cy="2143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6" name="10 CuadroTexto">
            <a:extLst>
              <a:ext uri="{FF2B5EF4-FFF2-40B4-BE49-F238E27FC236}">
                <a16:creationId xmlns:a16="http://schemas.microsoft.com/office/drawing/2014/main" id="{824EF4F6-4FF1-4CCD-B819-F94FC8A47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963" y="3355976"/>
            <a:ext cx="38655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Agentes económicos que adquieren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 la producción de bienes y servicios </a:t>
            </a:r>
          </a:p>
        </p:txBody>
      </p:sp>
      <p:sp>
        <p:nvSpPr>
          <p:cNvPr id="8217" name="2 Rectángulo">
            <a:extLst>
              <a:ext uri="{FF2B5EF4-FFF2-40B4-BE49-F238E27FC236}">
                <a16:creationId xmlns:a16="http://schemas.microsoft.com/office/drawing/2014/main" id="{8E5CB750-D0A0-401B-93CE-065A7E6C1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1" y="1504950"/>
            <a:ext cx="23812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 dirty="0"/>
              <a:t>Identidad vs ecuación. ¿3 rayas son lo mismo que 2?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90000">
              <a:schemeClr val="bg1"/>
            </a:gs>
            <a:gs pos="100000">
              <a:schemeClr val="accent2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CuadroTexto">
            <a:extLst>
              <a:ext uri="{FF2B5EF4-FFF2-40B4-BE49-F238E27FC236}">
                <a16:creationId xmlns:a16="http://schemas.microsoft.com/office/drawing/2014/main" id="{1F3E6114-B705-41B8-BE81-432CBA438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785814"/>
            <a:ext cx="3643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800"/>
              <a:t>Cálculo del PBI</a:t>
            </a:r>
          </a:p>
        </p:txBody>
      </p:sp>
      <p:cxnSp>
        <p:nvCxnSpPr>
          <p:cNvPr id="4" name="3 Conector recto de flecha">
            <a:extLst>
              <a:ext uri="{FF2B5EF4-FFF2-40B4-BE49-F238E27FC236}">
                <a16:creationId xmlns:a16="http://schemas.microsoft.com/office/drawing/2014/main" id="{8F018F23-E4C3-4B62-A036-B155608E28F2}"/>
              </a:ext>
            </a:extLst>
          </p:cNvPr>
          <p:cNvCxnSpPr/>
          <p:nvPr/>
        </p:nvCxnSpPr>
        <p:spPr>
          <a:xfrm flipV="1">
            <a:off x="5310188" y="928688"/>
            <a:ext cx="785812" cy="214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 de flecha">
            <a:extLst>
              <a:ext uri="{FF2B5EF4-FFF2-40B4-BE49-F238E27FC236}">
                <a16:creationId xmlns:a16="http://schemas.microsoft.com/office/drawing/2014/main" id="{D6C653A2-8ACA-4A2D-BA2D-1579C81DF4BD}"/>
              </a:ext>
            </a:extLst>
          </p:cNvPr>
          <p:cNvCxnSpPr/>
          <p:nvPr/>
        </p:nvCxnSpPr>
        <p:spPr>
          <a:xfrm>
            <a:off x="5310189" y="1143000"/>
            <a:ext cx="714375" cy="285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9" name="7 CuadroTexto">
            <a:extLst>
              <a:ext uri="{FF2B5EF4-FFF2-40B4-BE49-F238E27FC236}">
                <a16:creationId xmlns:a16="http://schemas.microsoft.com/office/drawing/2014/main" id="{0829BBAF-6011-488E-B951-C05DA1394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9" y="714376"/>
            <a:ext cx="32861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Como corriente de producción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s-AR" altLang="es-AR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Como corriente de ingresos</a:t>
            </a:r>
          </a:p>
        </p:txBody>
      </p:sp>
      <p:sp>
        <p:nvSpPr>
          <p:cNvPr id="11270" name="8 CuadroTexto">
            <a:extLst>
              <a:ext uri="{FF2B5EF4-FFF2-40B4-BE49-F238E27FC236}">
                <a16:creationId xmlns:a16="http://schemas.microsoft.com/office/drawing/2014/main" id="{F626A9B9-CF55-4BC0-9B69-AA8B3355B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6" y="1785939"/>
            <a:ext cx="3571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       Doble contabilización?</a:t>
            </a:r>
          </a:p>
        </p:txBody>
      </p:sp>
      <p:pic>
        <p:nvPicPr>
          <p:cNvPr id="11271" name="Picture 2">
            <a:extLst>
              <a:ext uri="{FF2B5EF4-FFF2-40B4-BE49-F238E27FC236}">
                <a16:creationId xmlns:a16="http://schemas.microsoft.com/office/drawing/2014/main" id="{3E83F919-7BED-4396-B375-40A194706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9" y="2286000"/>
            <a:ext cx="178593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3">
            <a:extLst>
              <a:ext uri="{FF2B5EF4-FFF2-40B4-BE49-F238E27FC236}">
                <a16:creationId xmlns:a16="http://schemas.microsoft.com/office/drawing/2014/main" id="{C216C809-6659-4D16-B703-8F0A1C67D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1928814"/>
            <a:ext cx="13716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4">
            <a:extLst>
              <a:ext uri="{FF2B5EF4-FFF2-40B4-BE49-F238E27FC236}">
                <a16:creationId xmlns:a16="http://schemas.microsoft.com/office/drawing/2014/main" id="{5B03A791-D74A-4224-AC51-801A438B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25" y="2357439"/>
            <a:ext cx="852488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5">
            <a:extLst>
              <a:ext uri="{FF2B5EF4-FFF2-40B4-BE49-F238E27FC236}">
                <a16:creationId xmlns:a16="http://schemas.microsoft.com/office/drawing/2014/main" id="{C36B70F3-E261-459C-B6FE-B3EBFD5BD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3214689"/>
            <a:ext cx="128587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6">
            <a:extLst>
              <a:ext uri="{FF2B5EF4-FFF2-40B4-BE49-F238E27FC236}">
                <a16:creationId xmlns:a16="http://schemas.microsoft.com/office/drawing/2014/main" id="{84DD8EE4-EE89-4EF9-B25F-F12FEDFF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3" y="22860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15 Conector recto de flecha">
            <a:extLst>
              <a:ext uri="{FF2B5EF4-FFF2-40B4-BE49-F238E27FC236}">
                <a16:creationId xmlns:a16="http://schemas.microsoft.com/office/drawing/2014/main" id="{422CFA30-3D87-4F5B-B220-F2E1EA5E0E07}"/>
              </a:ext>
            </a:extLst>
          </p:cNvPr>
          <p:cNvCxnSpPr/>
          <p:nvPr/>
        </p:nvCxnSpPr>
        <p:spPr>
          <a:xfrm>
            <a:off x="4381500" y="2928939"/>
            <a:ext cx="28575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>
            <a:extLst>
              <a:ext uri="{FF2B5EF4-FFF2-40B4-BE49-F238E27FC236}">
                <a16:creationId xmlns:a16="http://schemas.microsoft.com/office/drawing/2014/main" id="{9B2AE584-8617-4AB3-9A51-6216DC90991F}"/>
              </a:ext>
            </a:extLst>
          </p:cNvPr>
          <p:cNvCxnSpPr/>
          <p:nvPr/>
        </p:nvCxnSpPr>
        <p:spPr>
          <a:xfrm>
            <a:off x="6881814" y="2786064"/>
            <a:ext cx="428625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78" name="Picture 7">
            <a:extLst>
              <a:ext uri="{FF2B5EF4-FFF2-40B4-BE49-F238E27FC236}">
                <a16:creationId xmlns:a16="http://schemas.microsoft.com/office/drawing/2014/main" id="{9260E5F5-47D0-423D-A842-00CD0D3D1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4643439"/>
            <a:ext cx="2260600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9" name="20 CuadroTexto">
            <a:extLst>
              <a:ext uri="{FF2B5EF4-FFF2-40B4-BE49-F238E27FC236}">
                <a16:creationId xmlns:a16="http://schemas.microsoft.com/office/drawing/2014/main" id="{CD16FBAB-4224-4FCB-9C7E-A7EBFB880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1" y="4214813"/>
            <a:ext cx="25003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Antes de producir….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s-AR" altLang="es-AR" sz="1800"/>
          </a:p>
        </p:txBody>
      </p:sp>
      <p:sp>
        <p:nvSpPr>
          <p:cNvPr id="11280" name="21 CuadroTexto">
            <a:extLst>
              <a:ext uri="{FF2B5EF4-FFF2-40B4-BE49-F238E27FC236}">
                <a16:creationId xmlns:a16="http://schemas.microsoft.com/office/drawing/2014/main" id="{E28A6F37-1E04-440D-9099-9E841E48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4" y="4286250"/>
            <a:ext cx="1857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Después….</a:t>
            </a:r>
          </a:p>
        </p:txBody>
      </p:sp>
      <p:pic>
        <p:nvPicPr>
          <p:cNvPr id="11281" name="Picture 8">
            <a:extLst>
              <a:ext uri="{FF2B5EF4-FFF2-40B4-BE49-F238E27FC236}">
                <a16:creationId xmlns:a16="http://schemas.microsoft.com/office/drawing/2014/main" id="{013926C3-33B0-496D-AFD7-F57681563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6" y="4714875"/>
            <a:ext cx="2214563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2" name="23 CuadroTexto">
            <a:extLst>
              <a:ext uri="{FF2B5EF4-FFF2-40B4-BE49-F238E27FC236}">
                <a16:creationId xmlns:a16="http://schemas.microsoft.com/office/drawing/2014/main" id="{B4883C89-C063-4EB0-AA75-FCC3DAD77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4572000"/>
            <a:ext cx="31432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Para la empresa, tiene el mismo valor la maquinaria ?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s-AR" altLang="es-AR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1800"/>
              <a:t>Producto bruto y neto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90000">
              <a:schemeClr val="bg1"/>
            </a:gs>
            <a:gs pos="100000">
              <a:schemeClr val="accent2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BC5058D9-01E5-47BC-A60F-187D58EE2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939" y="1357314"/>
            <a:ext cx="1023937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4">
            <a:extLst>
              <a:ext uri="{FF2B5EF4-FFF2-40B4-BE49-F238E27FC236}">
                <a16:creationId xmlns:a16="http://schemas.microsoft.com/office/drawing/2014/main" id="{B9E425AD-4236-41DC-BA24-36AA89A63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0" y="1357313"/>
            <a:ext cx="1790700" cy="130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5">
            <a:extLst>
              <a:ext uri="{FF2B5EF4-FFF2-40B4-BE49-F238E27FC236}">
                <a16:creationId xmlns:a16="http://schemas.microsoft.com/office/drawing/2014/main" id="{2B5DC548-02EC-4C17-BD68-BD343C267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785813"/>
            <a:ext cx="15176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6">
            <a:extLst>
              <a:ext uri="{FF2B5EF4-FFF2-40B4-BE49-F238E27FC236}">
                <a16:creationId xmlns:a16="http://schemas.microsoft.com/office/drawing/2014/main" id="{64D57155-A603-4A5E-81CA-64AFFC75A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857251"/>
            <a:ext cx="1619250" cy="116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12">
            <a:hlinkClick r:id="rId6"/>
            <a:extLst>
              <a:ext uri="{FF2B5EF4-FFF2-40B4-BE49-F238E27FC236}">
                <a16:creationId xmlns:a16="http://schemas.microsoft.com/office/drawing/2014/main" id="{E37EEB4D-4099-4D7A-B1D6-4993AC38A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666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s-AR" altLang="es-AR" sz="1800"/>
          </a:p>
        </p:txBody>
      </p:sp>
      <p:sp>
        <p:nvSpPr>
          <p:cNvPr id="12295" name="Rectangle 13">
            <a:hlinkClick r:id="rId7" tooltip=" "/>
            <a:extLst>
              <a:ext uri="{FF2B5EF4-FFF2-40B4-BE49-F238E27FC236}">
                <a16:creationId xmlns:a16="http://schemas.microsoft.com/office/drawing/2014/main" id="{15CC304E-7A8D-4CC1-9A3E-FA2B2B3C3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666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s-AR" altLang="es-AR" sz="1800"/>
          </a:p>
        </p:txBody>
      </p:sp>
      <p:sp>
        <p:nvSpPr>
          <p:cNvPr id="12296" name="11 CuadroTexto">
            <a:extLst>
              <a:ext uri="{FF2B5EF4-FFF2-40B4-BE49-F238E27FC236}">
                <a16:creationId xmlns:a16="http://schemas.microsoft.com/office/drawing/2014/main" id="{E11B3D30-39BD-4A18-A35D-470FF8AC3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2143126"/>
            <a:ext cx="4827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400"/>
              <a:t>Capitales nacionales  (residentes)</a:t>
            </a:r>
          </a:p>
        </p:txBody>
      </p:sp>
      <p:sp>
        <p:nvSpPr>
          <p:cNvPr id="12297" name="12 CuadroTexto">
            <a:extLst>
              <a:ext uri="{FF2B5EF4-FFF2-40B4-BE49-F238E27FC236}">
                <a16:creationId xmlns:a16="http://schemas.microsoft.com/office/drawing/2014/main" id="{061C83A7-C45F-4A93-B23E-0BE217728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6" y="2643188"/>
            <a:ext cx="5305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400"/>
              <a:t>Capitales extranjeros (no residentes) </a:t>
            </a:r>
          </a:p>
        </p:txBody>
      </p:sp>
      <p:sp>
        <p:nvSpPr>
          <p:cNvPr id="12298" name="13 CuadroTexto">
            <a:extLst>
              <a:ext uri="{FF2B5EF4-FFF2-40B4-BE49-F238E27FC236}">
                <a16:creationId xmlns:a16="http://schemas.microsoft.com/office/drawing/2014/main" id="{AA07C7D1-0E6C-4D6F-82DA-A03D5609C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4286250"/>
            <a:ext cx="7086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/>
              <a:t>Producto interno (PI) vs nacional (PN)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s-AR" altLang="es-AR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/>
              <a:t>P. Interno   +  R.N.F.E.  =  P. Nacional</a:t>
            </a:r>
          </a:p>
        </p:txBody>
      </p:sp>
      <p:cxnSp>
        <p:nvCxnSpPr>
          <p:cNvPr id="16" name="15 Conector recto de flecha">
            <a:extLst>
              <a:ext uri="{FF2B5EF4-FFF2-40B4-BE49-F238E27FC236}">
                <a16:creationId xmlns:a16="http://schemas.microsoft.com/office/drawing/2014/main" id="{8AB80972-E937-4231-BFE4-0108D0122117}"/>
              </a:ext>
            </a:extLst>
          </p:cNvPr>
          <p:cNvCxnSpPr/>
          <p:nvPr/>
        </p:nvCxnSpPr>
        <p:spPr>
          <a:xfrm rot="5400000">
            <a:off x="4846638" y="3535363"/>
            <a:ext cx="7858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0" name="27 CuadroTexto">
            <a:extLst>
              <a:ext uri="{FF2B5EF4-FFF2-40B4-BE49-F238E27FC236}">
                <a16:creationId xmlns:a16="http://schemas.microsoft.com/office/drawing/2014/main" id="{7D96B63F-9E5D-4193-89D3-82E732F7A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9" y="142875"/>
            <a:ext cx="8575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sz="2000">
                <a:solidFill>
                  <a:srgbClr val="FFFF00"/>
                </a:solidFill>
              </a:rPr>
              <a:t>Cómo se distingue en el PBI la producción de residentes y no residentes?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90000">
              <a:schemeClr val="bg1"/>
            </a:gs>
            <a:gs pos="100000">
              <a:schemeClr val="accent2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12">
            <a:hlinkClick r:id="rId2"/>
            <a:extLst>
              <a:ext uri="{FF2B5EF4-FFF2-40B4-BE49-F238E27FC236}">
                <a16:creationId xmlns:a16="http://schemas.microsoft.com/office/drawing/2014/main" id="{E37EEB4D-4099-4D7A-B1D6-4993AC38A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666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s-AR" altLang="es-AR" sz="1800"/>
          </a:p>
        </p:txBody>
      </p:sp>
      <p:sp>
        <p:nvSpPr>
          <p:cNvPr id="12295" name="Rectangle 13">
            <a:hlinkClick r:id="rId3" tooltip=" "/>
            <a:extLst>
              <a:ext uri="{FF2B5EF4-FFF2-40B4-BE49-F238E27FC236}">
                <a16:creationId xmlns:a16="http://schemas.microsoft.com/office/drawing/2014/main" id="{15CC304E-7A8D-4CC1-9A3E-FA2B2B3C3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666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s-AR" altLang="es-AR" sz="1800"/>
          </a:p>
        </p:txBody>
      </p:sp>
      <p:sp>
        <p:nvSpPr>
          <p:cNvPr id="12298" name="13 CuadroTexto">
            <a:extLst>
              <a:ext uri="{FF2B5EF4-FFF2-40B4-BE49-F238E27FC236}">
                <a16:creationId xmlns:a16="http://schemas.microsoft.com/office/drawing/2014/main" id="{AA07C7D1-0E6C-4D6F-82DA-A03D5609C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4" y="1659285"/>
            <a:ext cx="11069632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V B P</a:t>
            </a:r>
            <a:r>
              <a:rPr lang="es-AR" altLang="es-AR" dirty="0"/>
              <a:t>roducción = Bienes Intermedios + Bienes Finales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s-AR" altLang="es-AR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P</a:t>
            </a:r>
            <a:r>
              <a:rPr lang="es-AR" altLang="es-AR" dirty="0"/>
              <a:t>roducto </a:t>
            </a: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B I</a:t>
            </a:r>
            <a:r>
              <a:rPr lang="es-AR" altLang="es-AR" dirty="0"/>
              <a:t> = Bienes Finales = </a:t>
            </a: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V B P </a:t>
            </a:r>
            <a:r>
              <a:rPr lang="es-AR" altLang="es-AR" dirty="0"/>
              <a:t>– Bienes Intermedios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s-AR" altLang="es-AR" dirty="0">
              <a:solidFill>
                <a:schemeClr val="accent4">
                  <a:lumMod val="75000"/>
                </a:schemeClr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P B</a:t>
            </a:r>
            <a:r>
              <a:rPr lang="es-AR" altLang="es-AR" dirty="0"/>
              <a:t>ruto</a:t>
            </a: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 I</a:t>
            </a:r>
            <a:r>
              <a:rPr lang="es-AR" altLang="es-AR" dirty="0"/>
              <a:t>   -  Consumo Capital Fijo  =  </a:t>
            </a: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P N</a:t>
            </a:r>
            <a:r>
              <a:rPr lang="es-AR" altLang="es-AR" dirty="0"/>
              <a:t>eto </a:t>
            </a: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I</a:t>
            </a:r>
            <a:endParaRPr lang="es-AR" altLang="es-AR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s-AR" altLang="es-AR" dirty="0">
              <a:solidFill>
                <a:schemeClr val="accent4">
                  <a:lumMod val="75000"/>
                </a:schemeClr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P B I</a:t>
            </a:r>
            <a:r>
              <a:rPr lang="es-AR" altLang="es-AR" dirty="0"/>
              <a:t>nterno   +  </a:t>
            </a: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I N F E</a:t>
            </a:r>
            <a:r>
              <a:rPr lang="es-AR" altLang="es-AR" dirty="0"/>
              <a:t>  =  </a:t>
            </a:r>
            <a:r>
              <a:rPr lang="es-AR" altLang="es-AR" dirty="0">
                <a:solidFill>
                  <a:schemeClr val="accent4">
                    <a:lumMod val="75000"/>
                  </a:schemeClr>
                </a:solidFill>
              </a:rPr>
              <a:t>P B N</a:t>
            </a:r>
            <a:r>
              <a:rPr lang="es-AR" altLang="es-AR" dirty="0"/>
              <a:t>acional</a:t>
            </a:r>
          </a:p>
        </p:txBody>
      </p:sp>
    </p:spTree>
    <p:extLst>
      <p:ext uri="{BB962C8B-B14F-4D97-AF65-F5344CB8AC3E}">
        <p14:creationId xmlns:p14="http://schemas.microsoft.com/office/powerpoint/2010/main" val="801657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6999</TotalTime>
  <Words>236</Words>
  <Application>Microsoft Office PowerPoint</Application>
  <PresentationFormat>Panorámica</PresentationFormat>
  <Paragraphs>46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Times New Roman</vt:lpstr>
      <vt:lpstr>Malla</vt:lpstr>
      <vt:lpstr> CONTABILIDAD NACIONAL 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equilibrio macroeconómico</dc:title>
  <dc:creator>uade</dc:creator>
  <cp:lastModifiedBy>Bertoia Del Valle Ezequiel Jorge</cp:lastModifiedBy>
  <cp:revision>127</cp:revision>
  <dcterms:created xsi:type="dcterms:W3CDTF">2011-08-02T15:30:07Z</dcterms:created>
  <dcterms:modified xsi:type="dcterms:W3CDTF">2022-04-02T01:05:23Z</dcterms:modified>
</cp:coreProperties>
</file>